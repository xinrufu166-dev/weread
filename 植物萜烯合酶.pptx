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228600"/>
            <a:ext cx="1005840" cy="1005840"/>
          </a:xfrm>
          <a:prstGeom prst="ellipse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1097280"/>
            <a:ext cx="548640" cy="54864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852160"/>
            <a:ext cx="731520" cy="731520"/>
          </a:xfrm>
          <a:prstGeom prst="ellipse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69880" y="5349240"/>
            <a:ext cx="1188720" cy="1188720"/>
          </a:xfrm>
          <a:prstGeom prst="ellipse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80" y="0"/>
            <a:ext cx="2862072" cy="10972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2926080" cy="41148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植物生物化学 · 酶学专题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2D6A4F"/>
                </a:solidFill>
                <a:latin typeface="Arial"/>
              </a:rPr>
              <a:t>植物萜烯合酶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4A261"/>
                </a:solidFill>
                <a:latin typeface="Arial"/>
              </a:rPr>
              <a:t>结构·机制·进化·应用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977639"/>
            <a:ext cx="594360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4A4A"/>
                </a:solidFill>
                <a:latin typeface="Arial"/>
              </a:rPr>
              <a:t>Plant Terpene Synthases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7432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1B1B1B"/>
                </a:solidFill>
                <a:latin typeface="Arial"/>
              </a:rPr>
              <a:t>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D6A4F"/>
                </a:solidFill>
                <a:latin typeface="Arial"/>
              </a:rPr>
              <a:t>目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2B788"/>
                </a:solidFill>
                <a:latin typeface="Arial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5486400" cy="1417320"/>
          </a:xfrm>
          <a:prstGeom prst="rect">
            <a:avLst/>
          </a:prstGeom>
          <a:solidFill>
            <a:srgbClr val="D8F3DC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1371600"/>
            <a:ext cx="694944" cy="694944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173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11556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D6A4F"/>
                </a:solidFill>
                <a:latin typeface="Arial"/>
              </a:rPr>
              <a:t>萜烯的生物学地位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276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Arial"/>
              </a:rPr>
              <a:t>植物次生代谢的核心产物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05840"/>
            <a:ext cx="5486400" cy="1417320"/>
          </a:xfrm>
          <a:prstGeom prst="rect">
            <a:avLst/>
          </a:prstGeom>
          <a:solidFill>
            <a:srgbClr val="D8F3DC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3368" y="1371600"/>
            <a:ext cx="694944" cy="694944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4173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11556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D6A4F"/>
                </a:solidFill>
                <a:latin typeface="Arial"/>
              </a:rPr>
              <a:t>萜烯合酶的分类与结构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6276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Arial"/>
              </a:rPr>
              <a:t>α/β/γ桶状折叠与活性位点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651760"/>
            <a:ext cx="5486400" cy="1417320"/>
          </a:xfrm>
          <a:prstGeom prst="rect">
            <a:avLst/>
          </a:prstGeom>
          <a:solidFill>
            <a:srgbClr val="D8F3DC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017520"/>
            <a:ext cx="694944" cy="694944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0632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76148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D6A4F"/>
                </a:solidFill>
                <a:latin typeface="Arial"/>
              </a:rPr>
              <a:t>催化机制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7355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Arial"/>
              </a:rPr>
              <a:t>碳正离子级联与产物多样性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651760"/>
            <a:ext cx="5486400" cy="1417320"/>
          </a:xfrm>
          <a:prstGeom prst="rect">
            <a:avLst/>
          </a:prstGeom>
          <a:solidFill>
            <a:srgbClr val="D8F3DC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73368" y="3017520"/>
            <a:ext cx="694944" cy="694944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30632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76148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D6A4F"/>
                </a:solidFill>
                <a:latin typeface="Arial"/>
              </a:rPr>
              <a:t>基因进化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27355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Arial"/>
              </a:rPr>
              <a:t>多基因家族与功能分化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297680"/>
            <a:ext cx="5486400" cy="1417320"/>
          </a:xfrm>
          <a:prstGeom prst="rect">
            <a:avLst/>
          </a:prstGeom>
          <a:solidFill>
            <a:srgbClr val="D8F3DC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4663440"/>
            <a:ext cx="694944" cy="694944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7091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40740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D6A4F"/>
                </a:solidFill>
                <a:latin typeface="Arial"/>
              </a:rPr>
              <a:t>生态功能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194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Arial"/>
              </a:rPr>
              <a:t>防御·授粉·竞争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297680"/>
            <a:ext cx="5486400" cy="1417320"/>
          </a:xfrm>
          <a:prstGeom prst="rect">
            <a:avLst/>
          </a:prstGeom>
          <a:solidFill>
            <a:srgbClr val="D8F3DC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73368" y="4663440"/>
            <a:ext cx="694944" cy="694944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47091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40740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D6A4F"/>
                </a:solidFill>
                <a:latin typeface="Arial"/>
              </a:rPr>
              <a:t>应用前景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49194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Arial"/>
              </a:rPr>
              <a:t>农业·医药·合成生物学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88952" cy="10515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01  萜烯的生物学地位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2B788"/>
                </a:solidFill>
                <a:latin typeface="Arial"/>
              </a:rPr>
              <a:t>The Biological Significance of Terpenoids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D6A4F"/>
                </a:solidFill>
                <a:latin typeface="Arial"/>
              </a:rPr>
              <a:t>&gt; 80,000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  <a:latin typeface="Arial"/>
              </a:rPr>
              <a:t>已知天然萜烯化合物种数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188720"/>
            <a:ext cx="3474720" cy="1097280"/>
          </a:xfrm>
          <a:prstGeom prst="rect">
            <a:avLst/>
          </a:prstGeom>
          <a:solidFill>
            <a:srgbClr val="FFF3E0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234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A261"/>
                </a:solidFill>
                <a:latin typeface="Arial"/>
              </a:rPr>
              <a:t>最大的天然产物家族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4A4A"/>
                </a:solidFill>
                <a:latin typeface="Arial"/>
              </a:rPr>
              <a:t>占植物次生代谢物 ~60%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188720"/>
            <a:ext cx="3383280" cy="109728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234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6A4F"/>
                </a:solidFill>
                <a:latin typeface="Arial"/>
              </a:rPr>
              <a:t>C₅ 异戊二烯单元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4A4A"/>
                </a:solidFill>
                <a:latin typeface="Arial"/>
              </a:rPr>
              <a:t>所有萜烯的基本构建块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14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D6A4F"/>
                </a:solidFill>
                <a:latin typeface="Arial"/>
              </a:rPr>
              <a:t>萜烯分类一览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6720840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类别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301752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碳数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9192" y="30175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前体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0175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代表化合物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47288"/>
            <a:ext cx="6720840" cy="4572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930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半萜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8528" y="34930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C₅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9192" y="34930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IPP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4930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异戊二烯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22776"/>
            <a:ext cx="6720840" cy="457200"/>
          </a:xfrm>
          <a:prstGeom prst="rect">
            <a:avLst/>
          </a:prstGeom>
          <a:solidFill>
            <a:srgbClr val="FA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96849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单萜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8528" y="396849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C₁₀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79192" y="396849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GPP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96849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薄荷醇、柠檬烯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398264"/>
            <a:ext cx="6720840" cy="4572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44398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倍半萜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8528" y="444398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C₁₅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79192" y="444398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FPP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44398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法尼醇、青蒿素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873752"/>
            <a:ext cx="6720840" cy="457200"/>
          </a:xfrm>
          <a:prstGeom prst="rect">
            <a:avLst/>
          </a:prstGeom>
          <a:solidFill>
            <a:srgbClr val="FA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9194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二萜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38528" y="491947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C₂₀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79192" y="49194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GGPP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49194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赤霉素、紫杉醇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349240"/>
            <a:ext cx="6720840" cy="4572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39496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三萜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38528" y="539496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C₃₀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79192" y="539496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鲨烯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53949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固醇、皂苷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824728"/>
            <a:ext cx="6720840" cy="457200"/>
          </a:xfrm>
          <a:prstGeom prst="rect">
            <a:avLst/>
          </a:prstGeom>
          <a:solidFill>
            <a:srgbClr val="FA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87044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四萜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38528" y="587044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C₄₀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79192" y="58704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八氢番茄红素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58704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类胡萝卜素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2423160"/>
            <a:ext cx="4572000" cy="42976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79" y="248716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6A4F"/>
                </a:solidFill>
                <a:latin typeface="Arial"/>
              </a:rPr>
              <a:t>生态与生理功能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43800" y="299923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🌺  花香与授粉吸引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800" y="35661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🛡️  防御草食动物与病原体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43800" y="4133088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☀️  光保护（类胡萝卜素）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43800" y="4700016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🌱  激素信号（赤霉素、脱落酸）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5266944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💊  高价值天然药物来源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583387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🧪  合成生物学底盘化合物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88952" cy="10515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02  萜烯合酶的分类与结构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2B788"/>
                </a:solidFill>
                <a:latin typeface="Arial"/>
              </a:rPr>
              <a:t>Classification &amp; Structural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3703320" cy="2560320"/>
          </a:xfrm>
          <a:prstGeom prst="rect">
            <a:avLst/>
          </a:prstGeom>
          <a:solidFill>
            <a:srgbClr val="D8F3DC"/>
          </a:solidFill>
          <a:ln w="254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703320" cy="5486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I 类
单萜/倍半萜/二萜合酶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1B1B"/>
                </a:solidFill>
                <a:latin typeface="Arial"/>
              </a:rPr>
              <a:t>α-螺旋桶状折叠
DDxxD + NSE/DTE 基序
金属离子辅助底物焦磷酸离去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143000"/>
            <a:ext cx="3703320" cy="2560320"/>
          </a:xfrm>
          <a:prstGeom prst="rect">
            <a:avLst/>
          </a:prstGeom>
          <a:solidFill>
            <a:srgbClr val="FFF3E0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143000"/>
            <a:ext cx="3703320" cy="548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17043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II 类
二萜合酶（质子化）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78308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1B1B"/>
                </a:solidFill>
                <a:latin typeface="Arial"/>
              </a:rPr>
              <a:t>β/γ 桶状折叠
DxDD 基序
质子化触发碳正离子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38744" y="1143000"/>
            <a:ext cx="3703320" cy="2560320"/>
          </a:xfrm>
          <a:prstGeom prst="rect">
            <a:avLst/>
          </a:prstGeom>
          <a:solidFill>
            <a:srgbClr val="D8F3DC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38744" y="1143000"/>
            <a:ext cx="3703320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117043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融合型
半萜/三/四萜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178308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1B1B"/>
                </a:solidFill>
                <a:latin typeface="Arial"/>
              </a:rPr>
              <a:t>双域或多域融合
特殊底物通道
多步催化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8587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D6A4F"/>
                </a:solidFill>
                <a:latin typeface="Arial"/>
              </a:rPr>
              <a:t>活性位点共同特征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434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B1B1B"/>
                </a:solidFill>
                <a:latin typeface="Arial"/>
              </a:rPr>
              <a:t>💠  金属离子结合基序（Mg²⁺/Mn²⁺）：稳定焦磷酸基团并辅助离去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B1B1B"/>
                </a:solidFill>
                <a:latin typeface="Arial"/>
              </a:rPr>
              <a:t>🔮  疏水活性口袋：决定产物骨架的立体选择性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406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B1B1B"/>
                </a:solidFill>
                <a:latin typeface="Arial"/>
              </a:rPr>
              <a:t>🔗  初始碳正离子形成：焦磷酸离去（I类）或质子化（II类）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89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B1B1B"/>
                </a:solidFill>
                <a:latin typeface="Arial"/>
              </a:rPr>
              <a:t>⚡  碳正离子级联反应：环化、重排、脱质子…生成多样骨架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143000"/>
            <a:ext cx="3657600" cy="530352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6A4F"/>
                </a:solidFill>
                <a:latin typeface="Arial"/>
              </a:rPr>
              <a:t>结构示意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1645920"/>
            <a:ext cx="2743200" cy="3657600"/>
          </a:xfrm>
          <a:prstGeom prst="ellipse">
            <a:avLst/>
          </a:prstGeom>
          <a:solidFill>
            <a:srgbClr val="B7E4C7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0" y="2971800"/>
            <a:ext cx="1097280" cy="1005840"/>
          </a:xfrm>
          <a:prstGeom prst="ellipse">
            <a:avLst/>
          </a:prstGeom>
          <a:solidFill>
            <a:srgbClr val="F4A261"/>
          </a:solidFill>
          <a:ln w="19050">
            <a:solidFill>
              <a:srgbClr val="C06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301752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活性
口袋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892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6A4F"/>
                </a:solidFill>
                <a:latin typeface="Arial"/>
              </a:rPr>
              <a:t>α-螺旋桶</a:t>
            </a:r>
          </a:p>
        </p:txBody>
      </p:sp>
      <p:sp>
        <p:nvSpPr>
          <p:cNvPr id="29" name="Oval 28"/>
          <p:cNvSpPr/>
          <p:nvPr/>
        </p:nvSpPr>
        <p:spPr>
          <a:xfrm>
            <a:off x="9701784" y="2569464"/>
            <a:ext cx="256032" cy="25603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41864" y="2569464"/>
            <a:ext cx="256032" cy="25603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0" y="2468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6A4F"/>
                </a:solidFill>
                <a:latin typeface="Arial"/>
              </a:rPr>
              <a:t>Mg²⁺  Mg²⁺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88952" cy="10515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03  催化机制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2B788"/>
                </a:solidFill>
                <a:latin typeface="Arial"/>
              </a:rPr>
              <a:t>Catalytic Mechanism — Carbocation Cascade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2103120" cy="3474720"/>
          </a:xfrm>
          <a:prstGeom prst="rect">
            <a:avLst/>
          </a:prstGeom>
          <a:solidFill>
            <a:srgbClr val="D8F3DC"/>
          </a:solidFill>
          <a:ln w="254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2103120" cy="5029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21615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1. 底物结合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82880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1B1B"/>
                </a:solidFill>
                <a:latin typeface="Arial"/>
              </a:rPr>
              <a:t>GPP/FPP/GGPP
与 Mg²⁺ 配位进入
活性口袋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26060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2B788"/>
                </a:solidFill>
                <a:latin typeface="Arial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9192" y="1188720"/>
            <a:ext cx="2103120" cy="3474720"/>
          </a:xfrm>
          <a:prstGeom prst="rect">
            <a:avLst/>
          </a:prstGeom>
          <a:solidFill>
            <a:srgbClr val="D8F3DC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79192" y="1188720"/>
            <a:ext cx="2103120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52344" y="121615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2. 焦磷酸离去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82880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1B1B"/>
                </a:solidFill>
                <a:latin typeface="Arial"/>
              </a:rPr>
              <a:t>DDxxD 基序
辅助 OPP⁻ 离去，
生成碳正离子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6060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2B788"/>
                </a:solidFill>
                <a:latin typeface="Arial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46904" y="1188720"/>
            <a:ext cx="2103120" cy="3474720"/>
          </a:xfrm>
          <a:prstGeom prst="rect">
            <a:avLst/>
          </a:prstGeom>
          <a:solidFill>
            <a:srgbClr val="FFF3E0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46904" y="1188720"/>
            <a:ext cx="2103120" cy="502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0056" y="121615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3. 环化/重排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182880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1B1B"/>
                </a:solidFill>
                <a:latin typeface="Arial"/>
              </a:rPr>
              <a:t>碳正离子亲核
进攻双键，形成
环状中间体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26060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2B788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14616" y="1188720"/>
            <a:ext cx="2103120" cy="3474720"/>
          </a:xfrm>
          <a:prstGeom prst="rect">
            <a:avLst/>
          </a:prstGeom>
          <a:solidFill>
            <a:srgbClr val="D8F3DC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14616" y="1188720"/>
            <a:ext cx="2103120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7768" y="121615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4. 去质子化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182880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1B1B"/>
                </a:solidFill>
                <a:latin typeface="Arial"/>
              </a:rPr>
              <a:t>碱基（His/Tyr）
脱去质子，恢复
中性产物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26060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2B788"/>
                </a:solidFill>
                <a:latin typeface="Arial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82328" y="1188720"/>
            <a:ext cx="2103120" cy="3474720"/>
          </a:xfrm>
          <a:prstGeom prst="rect">
            <a:avLst/>
          </a:prstGeom>
          <a:solidFill>
            <a:srgbClr val="D8F3DC"/>
          </a:solidFill>
          <a:ln w="254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82328" y="1188720"/>
            <a:ext cx="2103120" cy="5029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121615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5. 产物释放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182880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1B1B"/>
                </a:solidFill>
                <a:latin typeface="Arial"/>
              </a:rPr>
              <a:t>构象变化打开
活性口袋，产物
扩散释出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846320"/>
            <a:ext cx="11430000" cy="1691640"/>
          </a:xfrm>
          <a:prstGeom prst="rect">
            <a:avLst/>
          </a:prstGeom>
          <a:solidFill>
            <a:srgbClr val="D8F3DC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919472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6A4F"/>
                </a:solidFill>
                <a:latin typeface="Arial"/>
              </a:rPr>
              <a:t>🔑 多样性的秘密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7667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B1B1B"/>
                </a:solidFill>
                <a:latin typeface="Arial"/>
              </a:rPr>
              <a:t>同一前体（如 FPP）通过不同萜烯合酶，可生成 &gt; 300 种倍半萜骨架。活性口袋的形状、体积与关键残基的微小变化即可切换产物特异性——这是植物化学多样性爆炸式增长的根本原因。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88952" cy="10515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04  基因进化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2B788"/>
                </a:solidFill>
                <a:latin typeface="Arial"/>
              </a:rPr>
              <a:t>Gene Evolution of Plant Terpene Synthase 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D6A4F"/>
                </a:solidFill>
                <a:latin typeface="Arial"/>
              </a:rPr>
              <a:t>TPS 基因亚家族（TPS-a ~ TPS-h）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8229600" cy="5120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亚家族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91640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主要物种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9856" y="169164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主要产物类别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1264" y="1691640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特点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76272"/>
            <a:ext cx="8229600" cy="512064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21992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TPS-a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221992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被子植物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22199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倍半萜 / 二萜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1264" y="2221992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最大亚家族，高度分化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06624"/>
            <a:ext cx="8229600" cy="512064"/>
          </a:xfrm>
          <a:prstGeom prst="rect">
            <a:avLst/>
          </a:prstGeom>
          <a:solidFill>
            <a:srgbClr val="FA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52344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TPS-b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2752344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被子植物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9856" y="2752344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单萜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1264" y="2752344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花/叶挥发物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36976"/>
            <a:ext cx="8229600" cy="512064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82696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TPS-c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28269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所有陆地植物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9856" y="3282696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贝壳杉二烯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1264" y="3282696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最古老，进化保守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67328"/>
            <a:ext cx="8229600" cy="512064"/>
          </a:xfrm>
          <a:prstGeom prst="rect">
            <a:avLst/>
          </a:prstGeom>
          <a:solidFill>
            <a:srgbClr val="FA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13048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TPS-d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81304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裸子植物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9856" y="381304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单萜 / 倍半萜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41264" y="3813048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针叶树特有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97680"/>
            <a:ext cx="8229600" cy="512064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343400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TPS-e/f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2768" y="4343400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被子植物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19856" y="434340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二萜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41264" y="4343400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赤霉素合成相关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828032"/>
            <a:ext cx="8229600" cy="512064"/>
          </a:xfrm>
          <a:prstGeom prst="rect">
            <a:avLst/>
          </a:prstGeom>
          <a:solidFill>
            <a:srgbClr val="FA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73752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TPS-g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72768" y="4873752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被子植物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19856" y="487375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单萜（无环）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41264" y="4873752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花香成分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58384"/>
            <a:ext cx="8229600" cy="512064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404104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1B1B"/>
                </a:solidFill>
                <a:latin typeface="Arial"/>
              </a:rPr>
              <a:t>TPS-h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72768" y="5404104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苔藓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9856" y="5404104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倍半萜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41264" y="5404104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苔藓特有系统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120" y="1115568"/>
            <a:ext cx="3017520" cy="539496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0" y="1188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6A4F"/>
                </a:solidFill>
                <a:latin typeface="Arial"/>
              </a:rPr>
              <a:t>进化关键事件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1737360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🌍 起源于原始萜烯合酶
    祖先（与原核生物共享）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2606040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🌿 陆地植物登陆后
    基因家族快速扩张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3474720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🔀 串联基因重复驱动
    功能分化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4343400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🧬 正向选择加速
    活性位点多样化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5212080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1B1B"/>
                </a:solidFill>
                <a:latin typeface="Arial"/>
              </a:rPr>
              <a:t>🌸 被子植物辐射后
    TPS-a/b/g 爆发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88952" cy="10515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05  生态功能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2B788"/>
                </a:solidFill>
                <a:latin typeface="Arial"/>
              </a:rPr>
              <a:t>Ecological Roles of Plant Terpenoids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577840" cy="2514600"/>
          </a:xfrm>
          <a:prstGeom prst="rect">
            <a:avLst/>
          </a:prstGeom>
          <a:solidFill>
            <a:srgbClr val="D8F3DC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577840" cy="5303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43584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🛡️ 直接防御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280160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29844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D6A4F"/>
                </a:solidFill>
                <a:latin typeface="Arial"/>
              </a:rPr>
              <a:t>抗虫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B1B1B"/>
                </a:solidFill>
                <a:latin typeface="Arial"/>
              </a:rPr>
              <a:t>• 单萜（如柠檬烯）对昆虫神经毒性
• 倍半萜影响昆虫取食与产卵
• 二萜苦味素（如番茄素）驱食
例：烟草单萜驱蚜虫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577840" cy="2514600"/>
          </a:xfrm>
          <a:prstGeom prst="rect">
            <a:avLst/>
          </a:prstGeom>
          <a:solidFill>
            <a:srgbClr val="D8F3DC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188720"/>
            <a:ext cx="5577840" cy="5303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43584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📡 间接防御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0" y="1280160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43032" y="129844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A261"/>
                </a:solidFill>
                <a:latin typeface="Arial"/>
              </a:rPr>
              <a:t>HIPVs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B1B1B"/>
                </a:solidFill>
                <a:latin typeface="Arial"/>
              </a:rPr>
              <a:t>• 植食诱导挥发物（HIPVs）
• 招募天敌（寄生蜂、捕食螨）
• 邻近植株预警信号
例：玉米释放 β-石竹烯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577840" cy="2514600"/>
          </a:xfrm>
          <a:prstGeom prst="rect">
            <a:avLst/>
          </a:prstGeom>
          <a:solidFill>
            <a:srgbClr val="D8F3DC"/>
          </a:solidFill>
          <a:ln w="254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5577840" cy="5303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41064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🌺 授粉吸引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3977640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399592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B788"/>
                </a:solidFill>
                <a:latin typeface="Arial"/>
              </a:rPr>
              <a:t>传粉者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26280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B1B1B"/>
                </a:solidFill>
                <a:latin typeface="Arial"/>
              </a:rPr>
              <a:t>• 花香（芳樟醇、橙花叔醇等）
• 物种特异性气味识别
• 夜间开花植物富含单萜
例：玫瑰花香与蜜蜂偏好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886200"/>
            <a:ext cx="5577840" cy="2514600"/>
          </a:xfrm>
          <a:prstGeom prst="rect">
            <a:avLst/>
          </a:prstGeom>
          <a:solidFill>
            <a:srgbClr val="D8F3DC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886200"/>
            <a:ext cx="5577840" cy="5303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941064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⚔️ 化感作用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0" y="3977640"/>
            <a:ext cx="1188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43032" y="399592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D6A4F"/>
                </a:solidFill>
                <a:latin typeface="Arial"/>
              </a:rPr>
              <a:t>竞争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26280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B1B1B"/>
                </a:solidFill>
                <a:latin typeface="Arial"/>
              </a:rPr>
              <a:t>• 土壤释放萜烯抑制竞争植物
• 入侵植物化感优势
• 调控根际微生物群落
例：艾蒿樟脑抑制邻株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88952" cy="10515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06  应用前景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2B788"/>
                </a:solidFill>
                <a:latin typeface="Arial"/>
              </a:rPr>
              <a:t>Applications: Agriculture · Medicine · Synthetic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703320" cy="530352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703320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💊 医药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20440" cy="1371600"/>
          </a:xfrm>
          <a:prstGeom prst="rect">
            <a:avLst/>
          </a:prstGeom>
          <a:solidFill>
            <a:srgbClr val="FAFBF6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56816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  <a:latin typeface="Arial"/>
              </a:rPr>
              <a:t>青蒿素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Arial"/>
              </a:rPr>
              <a:t>抗疟疾（倍半萜）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261"/>
                </a:solidFill>
                <a:latin typeface="Arial"/>
              </a:rPr>
              <a:t>✓ 酵母异源合成获批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64992"/>
            <a:ext cx="3520440" cy="1371600"/>
          </a:xfrm>
          <a:prstGeom prst="rect">
            <a:avLst/>
          </a:prstGeom>
          <a:solidFill>
            <a:srgbClr val="FAFBF6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19856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  <a:latin typeface="Arial"/>
              </a:rPr>
              <a:t>紫杉醇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Arial"/>
              </a:rPr>
              <a:t>抗肿瘤（二萜）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261"/>
                </a:solidFill>
                <a:latin typeface="Arial"/>
              </a:rPr>
              <a:t>✓ 半合成+代谢工程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28032"/>
            <a:ext cx="3520440" cy="1371600"/>
          </a:xfrm>
          <a:prstGeom prst="rect">
            <a:avLst/>
          </a:prstGeom>
          <a:solidFill>
            <a:srgbClr val="FAFBF6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82896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  <a:latin typeface="Arial"/>
              </a:rPr>
              <a:t>人参皂苷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Arial"/>
              </a:rPr>
              <a:t>抗炎/免疫调节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69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261"/>
                </a:solidFill>
                <a:latin typeface="Arial"/>
              </a:rPr>
              <a:t>✓ 细胞工厂生产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1188720"/>
            <a:ext cx="3703320" cy="530352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1188720"/>
            <a:ext cx="3703320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1216152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🌾 农业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2272" y="1901952"/>
            <a:ext cx="3520440" cy="1371600"/>
          </a:xfrm>
          <a:prstGeom prst="rect">
            <a:avLst/>
          </a:prstGeom>
          <a:solidFill>
            <a:srgbClr val="FAFBF6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1956816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  <a:latin typeface="Arial"/>
              </a:rPr>
              <a:t>Bt萜烯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Arial"/>
              </a:rPr>
              <a:t>生物农药活性增强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2743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261"/>
                </a:solidFill>
                <a:latin typeface="Arial"/>
              </a:rPr>
              <a:t>✓ 转基因提升防虫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2272" y="3364992"/>
            <a:ext cx="3520440" cy="1371600"/>
          </a:xfrm>
          <a:prstGeom prst="rect">
            <a:avLst/>
          </a:prstGeom>
          <a:solidFill>
            <a:srgbClr val="FAFBF6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3419856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  <a:latin typeface="Arial"/>
              </a:rPr>
              <a:t>HIPVs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Arial"/>
              </a:rPr>
              <a:t>生物防治信息素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2062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261"/>
                </a:solidFill>
                <a:latin typeface="Arial"/>
              </a:rPr>
              <a:t>✓ 推-拉策略种植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62272" y="4828032"/>
            <a:ext cx="3520440" cy="1371600"/>
          </a:xfrm>
          <a:prstGeom prst="rect">
            <a:avLst/>
          </a:prstGeom>
          <a:solidFill>
            <a:srgbClr val="FAFBF6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4882896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  <a:latin typeface="Arial"/>
              </a:rPr>
              <a:t>精油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5303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Arial"/>
              </a:rPr>
              <a:t>天然防腐/驱虫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5669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261"/>
                </a:solidFill>
                <a:latin typeface="Arial"/>
              </a:rPr>
              <a:t>✓ 替代化学农药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84464" y="1188720"/>
            <a:ext cx="3703320" cy="530352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84464" y="1188720"/>
            <a:ext cx="3703320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1216152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⚗️ 合成生物学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75904" y="1901952"/>
            <a:ext cx="3520440" cy="1371600"/>
          </a:xfrm>
          <a:prstGeom prst="rect">
            <a:avLst/>
          </a:prstGeom>
          <a:solidFill>
            <a:srgbClr val="FAFBF6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67344" y="1956816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  <a:latin typeface="Arial"/>
              </a:rPr>
              <a:t>酵母底盘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7344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Arial"/>
              </a:rPr>
              <a:t>MVA 通路改造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7344" y="2743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261"/>
                </a:solidFill>
                <a:latin typeface="Arial"/>
              </a:rPr>
              <a:t>✓ 倍半萜 &gt; g/L 级产量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75904" y="3364992"/>
            <a:ext cx="3520440" cy="1371600"/>
          </a:xfrm>
          <a:prstGeom prst="rect">
            <a:avLst/>
          </a:prstGeom>
          <a:solidFill>
            <a:srgbClr val="FAFBF6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67344" y="3419856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  <a:latin typeface="Arial"/>
              </a:rPr>
              <a:t>大肠杆菌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67344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Arial"/>
              </a:rPr>
              <a:t>MEP 通路优化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67344" y="42062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261"/>
                </a:solidFill>
                <a:latin typeface="Arial"/>
              </a:rPr>
              <a:t>✓ 单萜规模化制备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75904" y="4828032"/>
            <a:ext cx="3520440" cy="1371600"/>
          </a:xfrm>
          <a:prstGeom prst="rect">
            <a:avLst/>
          </a:prstGeom>
          <a:solidFill>
            <a:srgbClr val="FAFBF6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67344" y="4882896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  <a:latin typeface="Arial"/>
              </a:rPr>
              <a:t>蛋白质工程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67344" y="5303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4A4A"/>
                </a:solidFill>
                <a:latin typeface="Arial"/>
              </a:rPr>
              <a:t>定向进化TPS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67344" y="5669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261"/>
                </a:solidFill>
                <a:latin typeface="Arial"/>
              </a:rPr>
              <a:t>✓ 产物特异性切换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91440"/>
            <a:ext cx="1097280" cy="1097280"/>
          </a:xfrm>
          <a:prstGeom prst="ellipse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5897880"/>
            <a:ext cx="640080" cy="640080"/>
          </a:xfrm>
          <a:prstGeom prst="ellipse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75720" y="5532120"/>
            <a:ext cx="822960" cy="822960"/>
          </a:xfrm>
          <a:prstGeom prst="ellipse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0"/>
            <a:ext cx="12188952" cy="914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D6A4F"/>
                </a:solidFill>
                <a:latin typeface="Arial"/>
              </a:rPr>
              <a:t>总结 &amp; 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2B788"/>
                </a:solidFill>
                <a:latin typeface="Arial"/>
              </a:rPr>
              <a:t>Summary &amp; Future Perspectives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02920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" y="1673352"/>
            <a:ext cx="365760" cy="36576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00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Arial"/>
              </a:rPr>
              <a:t>萜烯多样性：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B1B1B"/>
                </a:solidFill>
                <a:latin typeface="Arial"/>
              </a:rPr>
              <a:t>植物萜烯合酶是自然界最多产的天然产物合成酶家族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2478024"/>
            <a:ext cx="365760" cy="36576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048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Arial"/>
              </a:rPr>
              <a:t>结构基础：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4048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B1B1B"/>
                </a:solidFill>
                <a:latin typeface="Arial"/>
              </a:rPr>
              <a:t>α/β/γ 桶状折叠与金属辅因子协同实现精准碳正离子引导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3282696"/>
            <a:ext cx="365760" cy="36576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095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Arial"/>
              </a:rPr>
              <a:t>进化驱动：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2095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B1B1B"/>
                </a:solidFill>
                <a:latin typeface="Arial"/>
              </a:rPr>
              <a:t>基因重复 + 正向选择 = 活性位点快速功能分化</a:t>
            </a:r>
          </a:p>
        </p:txBody>
      </p:sp>
      <p:sp>
        <p:nvSpPr>
          <p:cNvPr id="19" name="Oval 18"/>
          <p:cNvSpPr/>
          <p:nvPr/>
        </p:nvSpPr>
        <p:spPr>
          <a:xfrm>
            <a:off x="566928" y="4087368"/>
            <a:ext cx="365760" cy="36576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0142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Arial"/>
              </a:rPr>
              <a:t>生态核心：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01421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B1B1B"/>
                </a:solidFill>
                <a:latin typeface="Arial"/>
              </a:rPr>
              <a:t>萜烯介导植物与昆虫、微生物及邻株的多重化学对话</a:t>
            </a:r>
          </a:p>
        </p:txBody>
      </p:sp>
      <p:sp>
        <p:nvSpPr>
          <p:cNvPr id="22" name="Oval 21"/>
          <p:cNvSpPr/>
          <p:nvPr/>
        </p:nvSpPr>
        <p:spPr>
          <a:xfrm>
            <a:off x="566928" y="4892040"/>
            <a:ext cx="365760" cy="36576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818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Arial"/>
              </a:rPr>
              <a:t>应用价值：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8188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B1B1B"/>
                </a:solidFill>
                <a:latin typeface="Arial"/>
              </a:rPr>
              <a:t>合成生物学正将萜烯合酶转化为绿色化工与医药引擎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687568"/>
            <a:ext cx="5029200" cy="987552"/>
          </a:xfrm>
          <a:prstGeom prst="rect">
            <a:avLst/>
          </a:prstGeom>
          <a:solidFill>
            <a:srgbClr val="D8F3DC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77900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6A4F"/>
                </a:solidFill>
                <a:latin typeface="Arial"/>
              </a:rPr>
              <a:t>🔭 未来挑战：从单酶到通路重构、从模式植物到非模式系统、AI辅助萜烯合酶设计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188720"/>
            <a:ext cx="6035040" cy="5440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16459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0" i="0">
                <a:solidFill>
                  <a:srgbClr val="FFFFFF"/>
                </a:solidFill>
                <a:latin typeface="Arial"/>
              </a:rPr>
              <a:t>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572000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34924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2B788"/>
                </a:solidFill>
                <a:latin typeface="Arial"/>
              </a:rPr>
              <a:t>欢迎提问与讨论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